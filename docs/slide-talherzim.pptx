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 A3" id="{0D5D23A0-0BC3-6F9A-8017-18AFDF2DAEAE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41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59C854-5109-49B1-9740-3A1FAB91D25C}" v="2" dt="2026-10-26T21:50:32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Alchaar Gomes" userId="16329fa3-ba9b-4bc7-9e9d-76abda550727" providerId="ADAL" clId="{506E8CD9-E532-4282-874E-E1898974724E}"/>
    <pc:docChg chg="undo custSel addSld delSld modSld modSection">
      <pc:chgData name="Miguel Alchaar Gomes" userId="16329fa3-ba9b-4bc7-9e9d-76abda550727" providerId="ADAL" clId="{506E8CD9-E532-4282-874E-E1898974724E}" dt="2026-10-26T21:50:42.899" v="26" actId="1076"/>
      <pc:docMkLst>
        <pc:docMk/>
      </pc:docMkLst>
      <pc:sldChg chg="addSp delSp modSp mod modAnim">
        <pc:chgData name="Miguel Alchaar Gomes" userId="16329fa3-ba9b-4bc7-9e9d-76abda550727" providerId="ADAL" clId="{506E8CD9-E532-4282-874E-E1898974724E}" dt="2026-10-26T21:50:42.899" v="26" actId="1076"/>
        <pc:sldMkLst>
          <pc:docMk/>
          <pc:sldMk cId="0" sldId="258"/>
        </pc:sldMkLst>
        <pc:spChg chg="del">
          <ac:chgData name="Miguel Alchaar Gomes" userId="16329fa3-ba9b-4bc7-9e9d-76abda550727" providerId="ADAL" clId="{506E8CD9-E532-4282-874E-E1898974724E}" dt="2026-10-26T21:48:44.535" v="18" actId="478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Miguel Alchaar Gomes" userId="16329fa3-ba9b-4bc7-9e9d-76abda550727" providerId="ADAL" clId="{506E8CD9-E532-4282-874E-E1898974724E}" dt="2026-10-26T21:50:42.899" v="26" actId="1076"/>
          <ac:picMkLst>
            <pc:docMk/>
            <pc:sldMk cId="0" sldId="258"/>
            <ac:picMk id="4" creationId="{C8ABDEB3-F9AC-2E9D-70C7-C91344AAA642}"/>
          </ac:picMkLst>
        </pc:picChg>
      </pc:sldChg>
      <pc:sldChg chg="addSp delSp modSp mod">
        <pc:chgData name="Miguel Alchaar Gomes" userId="16329fa3-ba9b-4bc7-9e9d-76abda550727" providerId="ADAL" clId="{506E8CD9-E532-4282-874E-E1898974724E}" dt="2026-10-26T21:47:00.274" v="5" actId="931"/>
        <pc:sldMkLst>
          <pc:docMk/>
          <pc:sldMk cId="0" sldId="261"/>
        </pc:sldMkLst>
        <pc:picChg chg="add del mod">
          <ac:chgData name="Miguel Alchaar Gomes" userId="16329fa3-ba9b-4bc7-9e9d-76abda550727" providerId="ADAL" clId="{506E8CD9-E532-4282-874E-E1898974724E}" dt="2026-10-26T21:47:00.274" v="5" actId="931"/>
          <ac:picMkLst>
            <pc:docMk/>
            <pc:sldMk cId="0" sldId="261"/>
            <ac:picMk id="20" creationId="{DC3C1600-4CFD-5F80-99FD-8AC668BB3B0D}"/>
          </ac:picMkLst>
        </pc:picChg>
      </pc:sldChg>
      <pc:sldChg chg="addSp modSp add del mod">
        <pc:chgData name="Miguel Alchaar Gomes" userId="16329fa3-ba9b-4bc7-9e9d-76abda550727" providerId="ADAL" clId="{506E8CD9-E532-4282-874E-E1898974724E}" dt="2026-10-26T21:47:07.124" v="7" actId="931"/>
        <pc:sldMkLst>
          <pc:docMk/>
          <pc:sldMk cId="0" sldId="262"/>
        </pc:sldMkLst>
        <pc:picChg chg="add mod">
          <ac:chgData name="Miguel Alchaar Gomes" userId="16329fa3-ba9b-4bc7-9e9d-76abda550727" providerId="ADAL" clId="{506E8CD9-E532-4282-874E-E1898974724E}" dt="2026-10-26T21:46:29.493" v="0" actId="931"/>
          <ac:picMkLst>
            <pc:docMk/>
            <pc:sldMk cId="0" sldId="262"/>
            <ac:picMk id="19" creationId="{3BBB96EE-7517-C3B5-E02C-880CC413373B}"/>
          </ac:picMkLst>
        </pc:picChg>
        <pc:picChg chg="add mod">
          <ac:chgData name="Miguel Alchaar Gomes" userId="16329fa3-ba9b-4bc7-9e9d-76abda550727" providerId="ADAL" clId="{506E8CD9-E532-4282-874E-E1898974724E}" dt="2026-10-26T21:47:07.124" v="7" actId="931"/>
          <ac:picMkLst>
            <pc:docMk/>
            <pc:sldMk cId="0" sldId="262"/>
            <ac:picMk id="21" creationId="{BC6D74FC-EBF6-77D2-C264-B275EAC2E64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97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 · ABERTURA
"Olá! Somos a equipe do Talherzim, um organizador de receitas que sugere o que cozinhar a partir dos ingredientes que a pessoa já tem em casa. Esse é o nosso trabalho A3 de Gestão e Qualidade de Software."
[Preencha os nomes e RAs dos integrantes no card à direita — a A3 exige identificação de todos.]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0:15–1:05 · PROBLEMA E PROPOSTA
"Quem nunca abriu a geladeira, olhou para ingredientes soltos e não soube o que cozinhar? Muitas vezes a gente acaba pedindo comida ou deixa o que já tinha estragar. Somado, isso vira desperdício de alimentos e de dinheiro."
"O Talherzim resolve isso de um jeito simples: a pessoa cadastra o que tem em casa e o sistema sugere receitas que dá para fazer, colocando primeiro as que aproveitam o maior número de itens da despensa. O público é qualquer pessoa que cozinha em casa, e o benefício esperado é decidir mais rápido e desperdiçar menos."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1:05–2:00 · FUNCIONAMENTO / DEMONSTRAÇÃO
"Vou mostrar como funciona. O fluxo principal é: criar conta e entrar, cadastrar os ingredientes e ver as receitas sugeridas, com acesso ao detalhe de cada uma."
[Aqui entra o print ou o vídeo da aplicação rodando. Mostre só o que já funciona.]
[Sugestão de sequência: 1) abrir a aplicação; 2) cadastro/login; 3) a funcionalidade mais completa que estiver pronta (idealmente cadastrar ingredientes e ver as sugestões); 4) resultado na tela.]
[Evite telas ou botões ainda não implementados e o reconhecimento por foto, que é opcional.]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2:00–2:50 · ARQUITETURA
"A arquitetura é dividida em camadas. O front-end em React com TypeScript conversa com uma API em Node e Express, que guarda os dados em PostgreSQL. O acesso é protegido por token JWT e as senhas são guardadas com hash bcrypt. As receitas vêm de um dataset estático, carregado no banco por um script, o que nos dá independência de serviços externos. Hoje a API expõe as rotas de cadastro, login, logout e perfil do usuário."
[Se o time já tiver implementado outras rotas (despensa, sugestões), adicione-as no card da direita.]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2:50–4:00 · ENGENHARIA E QUALIDADE
"Na parte de qualidade, seguimos os critérios da disciplina. No versionamento, adotamos Git Flow, com branches main, develop e feature, e commits semânticos no padrão Conventional Commits."
"Os testes ficam no back-end: os unitários validam as regras de negócio, como o serviço de autenticação com o banco simulado, a validação de campos e os middlewares; e os de integração sobem um PostgreSQL de verdade com Testcontainers para testar o ciclo completo de autenticação."
"Para manter o código limpo e bem indentado, usamos ESLint e Prettier. O contrato da API, em OpenAPI, define o formato de erro. E temos um workflow do GitHub Actions no repositório, com a regra de que PRs só entram com lint e build verdes."
[Antes de gravar: confirme no GitHub que existem pelo menos 3 branches seguindo o Git Flow e commits semânticos de fato; rode `npm test` e só diga que os testes passam se passarem; confira o que o workflow executa.]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4:00–4:45 · IMPACTO E EVOLUÇÃO
"O projeto se relaciona com a ODS 12, consumo e produção responsáveis, em especial a meta 12.3, que trata da redução do desperdício de alimentos. Vale ser claro: esse é o impacto que pretendemos gerar, ainda não medimos resultados."
"Sobre o estágio atual: a base da API, com autenticação e carga de receitas, está pronta. Os próximos passos, na ordem, são a despensa, o ranqueamento das receitas e as telas de listagem e detalhe, que formam o critério de aceite do MVP. O reconhecimento de ingredientes por foto é opcional."
[Atualize os status das etapas conforme o que o time realmente já entregou.]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4:45–5:00 · ENCERRAMENTO
"Resumindo: o Talherzim ataca um problema real, o desperdício de alimentos em casa, com uma base técnica organizada, com testes, padronização de código, Git Flow e integração contínua, e com um caminho claro de evolução. O código está no GitHub da nossa organização. Obrigado!"
[Para a apresentação final de 10 a 15 minutos, aprofunde: demonstração ao vivo, fluxo de commits/branches no GitHub, execução dos testes e discussão das refatorações feitas.]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2588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Talherzim · Trabalho A3 · Gestão e Qualidade de Software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tegrantes título"/>
          <p:cNvSpPr txBox="1"/>
          <p:nvPr/>
        </p:nvSpPr>
        <p:spPr>
          <a:xfrm>
            <a:off x="850392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Integrantes</a:t>
            </a:r>
            <a:endParaRPr lang="en-US" sz="2000" dirty="0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08D8BBA4-AC07-9114-7DAD-51BCDCEB3D0E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4FA805E-2FE2-E65F-A4F4-2A1C71A1E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Cozinhar com o que já existe em casa</a:t>
            </a:r>
            <a:endParaRPr lang="en-US" sz="3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ard O problema"/>
          <p:cNvSpPr/>
          <p:nvPr/>
        </p:nvSpPr>
        <p:spPr>
          <a:xfrm>
            <a:off x="457200" y="1371600"/>
            <a:ext cx="55321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O problema ícone fundo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O problema 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728216"/>
            <a:ext cx="201168" cy="201168"/>
          </a:xfrm>
          <a:prstGeom prst="rect">
            <a:avLst/>
          </a:prstGeom>
        </p:spPr>
      </p:pic>
      <p:sp>
        <p:nvSpPr>
          <p:cNvPr id="6" name="O problema título"/>
          <p:cNvSpPr txBox="1"/>
          <p:nvPr/>
        </p:nvSpPr>
        <p:spPr>
          <a:xfrm>
            <a:off x="128016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O problema</a:t>
            </a:r>
            <a:endParaRPr lang="en-US" sz="2000" dirty="0"/>
          </a:p>
        </p:txBody>
      </p:sp>
      <p:sp>
        <p:nvSpPr>
          <p:cNvPr id="7" name="O problema texto"/>
          <p:cNvSpPr txBox="1"/>
          <p:nvPr/>
        </p:nvSpPr>
        <p:spPr>
          <a:xfrm>
            <a:off x="685800" y="228600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Quem cozinha em casa muitas vezes não sabe o que preparar com os ingredientes que tem.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 resultado: </a:t>
            </a:r>
            <a:r>
              <a:rPr lang="en-US" sz="1800" dirty="0">
                <a:solidFill>
                  <a:schemeClr val="tx1"/>
                </a:solidFill>
              </a:rPr>
              <a:t>sobras que estragam, compras repetidas e desperdício de alimentos.</a:t>
            </a:r>
            <a:endParaRPr lang="en-US" sz="1800" dirty="0"/>
          </a:p>
        </p:txBody>
      </p:sp>
      <p:sp>
        <p:nvSpPr>
          <p:cNvPr id="8" name="Card A solução"/>
          <p:cNvSpPr/>
          <p:nvPr/>
        </p:nvSpPr>
        <p:spPr>
          <a:xfrm>
            <a:off x="6199632" y="1371600"/>
            <a:ext cx="55321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A solução ícone fundo"/>
          <p:cNvSpPr/>
          <p:nvPr/>
        </p:nvSpPr>
        <p:spPr>
          <a:xfrm>
            <a:off x="6428232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A solução 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728216"/>
            <a:ext cx="201168" cy="201168"/>
          </a:xfrm>
          <a:prstGeom prst="rect">
            <a:avLst/>
          </a:prstGeom>
        </p:spPr>
      </p:pic>
      <p:sp>
        <p:nvSpPr>
          <p:cNvPr id="11" name="A solução título"/>
          <p:cNvSpPr txBox="1"/>
          <p:nvPr/>
        </p:nvSpPr>
        <p:spPr>
          <a:xfrm>
            <a:off x="7022592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A solução</a:t>
            </a:r>
            <a:endParaRPr lang="en-US" sz="2000" dirty="0"/>
          </a:p>
        </p:txBody>
      </p:sp>
      <p:sp>
        <p:nvSpPr>
          <p:cNvPr id="12" name="A solução texto"/>
          <p:cNvSpPr txBox="1"/>
          <p:nvPr/>
        </p:nvSpPr>
        <p:spPr>
          <a:xfrm>
            <a:off x="6428232" y="228600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 Talherzim permite cadastrar os ingredientes da despensa e sugere receitas que podem ser preparadas com eles, priorizando as que aproveitam mais itens.</a:t>
            </a:r>
            <a:endParaRPr lang="en-US" sz="1800" dirty="0"/>
          </a:p>
        </p:txBody>
      </p:sp>
      <p:sp>
        <p:nvSpPr>
          <p:cNvPr id="13" name="Passo 1"/>
          <p:cNvSpPr/>
          <p:nvPr/>
        </p:nvSpPr>
        <p:spPr>
          <a:xfrm>
            <a:off x="457200" y="3977640"/>
            <a:ext cx="32461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Passo número 1"/>
          <p:cNvSpPr/>
          <p:nvPr/>
        </p:nvSpPr>
        <p:spPr>
          <a:xfrm>
            <a:off x="68580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Passo texto 1"/>
          <p:cNvSpPr txBox="1"/>
          <p:nvPr/>
        </p:nvSpPr>
        <p:spPr>
          <a:xfrm>
            <a:off x="1280160" y="4160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Cadastra os ingredientes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 que há na despensa</a:t>
            </a:r>
            <a:endParaRPr lang="en-US" sz="1600" dirty="0"/>
          </a:p>
        </p:txBody>
      </p:sp>
      <p:sp>
        <p:nvSpPr>
          <p:cNvPr id="16" name="Seta passo 1"/>
          <p:cNvSpPr/>
          <p:nvPr/>
        </p:nvSpPr>
        <p:spPr>
          <a:xfrm>
            <a:off x="3858768" y="4507992"/>
            <a:ext cx="457200" cy="310896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Passo 2"/>
          <p:cNvSpPr/>
          <p:nvPr/>
        </p:nvSpPr>
        <p:spPr>
          <a:xfrm>
            <a:off x="4471416" y="3977640"/>
            <a:ext cx="32461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Passo número 2"/>
          <p:cNvSpPr/>
          <p:nvPr/>
        </p:nvSpPr>
        <p:spPr>
          <a:xfrm>
            <a:off x="4700016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Passo texto 2"/>
          <p:cNvSpPr txBox="1"/>
          <p:nvPr/>
        </p:nvSpPr>
        <p:spPr>
          <a:xfrm>
            <a:off x="5294376" y="4160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Compara com as receitas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Cruza ingredientes e receitas</a:t>
            </a:r>
            <a:endParaRPr lang="en-US" sz="1600" dirty="0"/>
          </a:p>
        </p:txBody>
      </p:sp>
      <p:sp>
        <p:nvSpPr>
          <p:cNvPr id="20" name="Seta passo 2"/>
          <p:cNvSpPr/>
          <p:nvPr/>
        </p:nvSpPr>
        <p:spPr>
          <a:xfrm>
            <a:off x="7872984" y="4507992"/>
            <a:ext cx="457200" cy="310896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Passo 3"/>
          <p:cNvSpPr/>
          <p:nvPr/>
        </p:nvSpPr>
        <p:spPr>
          <a:xfrm>
            <a:off x="8485632" y="3977640"/>
            <a:ext cx="32461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Passo número 3"/>
          <p:cNvSpPr/>
          <p:nvPr/>
        </p:nvSpPr>
        <p:spPr>
          <a:xfrm>
            <a:off x="8714232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Passo texto 3"/>
          <p:cNvSpPr txBox="1"/>
          <p:nvPr/>
        </p:nvSpPr>
        <p:spPr>
          <a:xfrm>
            <a:off x="9308592" y="4160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Recebe sugestões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Ordenadas pelo maior aproveitamento</a:t>
            </a:r>
            <a:endParaRPr lang="en-US" sz="1600" dirty="0"/>
          </a:p>
        </p:txBody>
      </p:sp>
      <p:sp>
        <p:nvSpPr>
          <p:cNvPr id="24" name="Chip 1"/>
          <p:cNvSpPr/>
          <p:nvPr/>
        </p:nvSpPr>
        <p:spPr>
          <a:xfrm>
            <a:off x="457200" y="5577840"/>
            <a:ext cx="55321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Chip texto 1"/>
          <p:cNvSpPr txBox="1"/>
          <p:nvPr/>
        </p:nvSpPr>
        <p:spPr>
          <a:xfrm>
            <a:off x="685800" y="5577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Público-alvo: </a:t>
            </a:r>
            <a:r>
              <a:rPr lang="en-US" sz="1500" dirty="0">
                <a:solidFill>
                  <a:schemeClr val="tx1"/>
                </a:solidFill>
              </a:rPr>
              <a:t>quem cozinha em casa</a:t>
            </a:r>
            <a:endParaRPr lang="en-US" sz="1500" dirty="0"/>
          </a:p>
        </p:txBody>
      </p:sp>
      <p:sp>
        <p:nvSpPr>
          <p:cNvPr id="26" name="Chip 2"/>
          <p:cNvSpPr/>
          <p:nvPr/>
        </p:nvSpPr>
        <p:spPr>
          <a:xfrm>
            <a:off x="6199632" y="5577840"/>
            <a:ext cx="55321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Chip texto 2"/>
          <p:cNvSpPr txBox="1"/>
          <p:nvPr/>
        </p:nvSpPr>
        <p:spPr>
          <a:xfrm>
            <a:off x="6428232" y="5577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Benefício esperado: </a:t>
            </a:r>
            <a:r>
              <a:rPr lang="en-US" sz="1500" dirty="0">
                <a:solidFill>
                  <a:schemeClr val="tx1"/>
                </a:solidFill>
              </a:rPr>
              <a:t>decidir mais rápido e desperdiçar menos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aplicação em funcionamento</a:t>
            </a:r>
            <a:endParaRPr lang="en-US" sz="3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 0" descr="Demo 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589" y="3247949"/>
            <a:ext cx="362102" cy="362102"/>
          </a:xfrm>
          <a:prstGeom prst="rect">
            <a:avLst/>
          </a:prstGeom>
        </p:spPr>
      </p:pic>
      <p:sp>
        <p:nvSpPr>
          <p:cNvPr id="8" name="Fluxo título"/>
          <p:cNvSpPr txBox="1"/>
          <p:nvPr/>
        </p:nvSpPr>
        <p:spPr>
          <a:xfrm>
            <a:off x="7818120" y="884731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Fluxo principal do MVP</a:t>
            </a:r>
            <a:endParaRPr lang="en-US" sz="2000" dirty="0"/>
          </a:p>
        </p:txBody>
      </p:sp>
      <p:sp>
        <p:nvSpPr>
          <p:cNvPr id="9" name="Fluxo card 1"/>
          <p:cNvSpPr/>
          <p:nvPr/>
        </p:nvSpPr>
        <p:spPr>
          <a:xfrm>
            <a:off x="7818120" y="1371600"/>
            <a:ext cx="391363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Fluxo número 1"/>
          <p:cNvSpPr/>
          <p:nvPr/>
        </p:nvSpPr>
        <p:spPr>
          <a:xfrm>
            <a:off x="80010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Fluxo texto 1"/>
          <p:cNvSpPr txBox="1"/>
          <p:nvPr/>
        </p:nvSpPr>
        <p:spPr>
          <a:xfrm>
            <a:off x="859536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Criar conta e entrar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Cadastro e login com e-mail e senha</a:t>
            </a:r>
            <a:endParaRPr lang="en-US" sz="1500" dirty="0"/>
          </a:p>
        </p:txBody>
      </p:sp>
      <p:sp>
        <p:nvSpPr>
          <p:cNvPr id="12" name="Fluxo card 2"/>
          <p:cNvSpPr/>
          <p:nvPr/>
        </p:nvSpPr>
        <p:spPr>
          <a:xfrm>
            <a:off x="7818120" y="2343393"/>
            <a:ext cx="391363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Fluxo número 2"/>
          <p:cNvSpPr/>
          <p:nvPr/>
        </p:nvSpPr>
        <p:spPr>
          <a:xfrm>
            <a:off x="8001000" y="2526273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Fluxo texto 2"/>
          <p:cNvSpPr txBox="1"/>
          <p:nvPr/>
        </p:nvSpPr>
        <p:spPr>
          <a:xfrm>
            <a:off x="8595360" y="2343393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Cadastrar ingredientes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Montar a despensa do usuário</a:t>
            </a:r>
            <a:endParaRPr lang="en-US" sz="1500" dirty="0"/>
          </a:p>
        </p:txBody>
      </p:sp>
      <p:sp>
        <p:nvSpPr>
          <p:cNvPr id="15" name="Fluxo card 3"/>
          <p:cNvSpPr/>
          <p:nvPr/>
        </p:nvSpPr>
        <p:spPr>
          <a:xfrm>
            <a:off x="7818120" y="3251633"/>
            <a:ext cx="391363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Fluxo número 3"/>
          <p:cNvSpPr/>
          <p:nvPr/>
        </p:nvSpPr>
        <p:spPr>
          <a:xfrm>
            <a:off x="8001000" y="3434513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Fluxo texto 3"/>
          <p:cNvSpPr txBox="1"/>
          <p:nvPr/>
        </p:nvSpPr>
        <p:spPr>
          <a:xfrm>
            <a:off x="8595360" y="3251633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 receitas sugeridas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Ordenadas pelos ingredientes em comum</a:t>
            </a:r>
            <a:endParaRPr lang="en-US" sz="1500" dirty="0"/>
          </a:p>
        </p:txBody>
      </p:sp>
      <p:sp>
        <p:nvSpPr>
          <p:cNvPr id="18" name="Fluxo card 4"/>
          <p:cNvSpPr/>
          <p:nvPr/>
        </p:nvSpPr>
        <p:spPr>
          <a:xfrm>
            <a:off x="7818120" y="4211753"/>
            <a:ext cx="391363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Fluxo número 4"/>
          <p:cNvSpPr/>
          <p:nvPr/>
        </p:nvSpPr>
        <p:spPr>
          <a:xfrm>
            <a:off x="8001000" y="4394633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Fluxo texto 4"/>
          <p:cNvSpPr txBox="1"/>
          <p:nvPr/>
        </p:nvSpPr>
        <p:spPr>
          <a:xfrm>
            <a:off x="8595360" y="4211753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Abrir uma receita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Ingredientes e modo de preparo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2" name="Fluxo card 4">
            <a:extLst>
              <a:ext uri="{FF2B5EF4-FFF2-40B4-BE49-F238E27FC236}">
                <a16:creationId xmlns:a16="http://schemas.microsoft.com/office/drawing/2014/main" id="{A3E0DF3E-F2B7-3109-0A3A-76CA19A06522}"/>
              </a:ext>
            </a:extLst>
          </p:cNvPr>
          <p:cNvSpPr/>
          <p:nvPr/>
        </p:nvSpPr>
        <p:spPr>
          <a:xfrm>
            <a:off x="7818120" y="5217593"/>
            <a:ext cx="391363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Fluxo texto 4">
            <a:extLst>
              <a:ext uri="{FF2B5EF4-FFF2-40B4-BE49-F238E27FC236}">
                <a16:creationId xmlns:a16="http://schemas.microsoft.com/office/drawing/2014/main" id="{239327DA-6166-468B-8928-287540399BC9}"/>
              </a:ext>
            </a:extLst>
          </p:cNvPr>
          <p:cNvSpPr txBox="1"/>
          <p:nvPr/>
        </p:nvSpPr>
        <p:spPr>
          <a:xfrm>
            <a:off x="8595360" y="5217593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chemeClr val="tx1"/>
                </a:solidFill>
              </a:rPr>
              <a:t>Favoritar</a:t>
            </a:r>
            <a:r>
              <a:rPr lang="en-US" sz="1500" b="1" dirty="0">
                <a:solidFill>
                  <a:schemeClr val="tx1"/>
                </a:solidFill>
              </a:rPr>
              <a:t> </a:t>
            </a:r>
            <a:r>
              <a:rPr lang="en-US" sz="1500" b="1" dirty="0" err="1">
                <a:solidFill>
                  <a:schemeClr val="tx1"/>
                </a:solidFill>
              </a:rPr>
              <a:t>receita</a:t>
            </a:r>
            <a:endParaRPr lang="en-US" sz="15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chemeClr val="tx2"/>
                </a:solidFill>
              </a:rPr>
              <a:t>Receitas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favoritas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em</a:t>
            </a:r>
            <a:r>
              <a:rPr lang="en-US" sz="1200" dirty="0">
                <a:solidFill>
                  <a:schemeClr val="tx2"/>
                </a:solidFill>
              </a:rPr>
              <a:t> um </a:t>
            </a:r>
            <a:r>
              <a:rPr lang="en-US" sz="1200" dirty="0" err="1">
                <a:solidFill>
                  <a:schemeClr val="tx2"/>
                </a:solidFill>
              </a:rPr>
              <a:t>lugar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só</a:t>
            </a:r>
            <a:endParaRPr lang="en-US" sz="1500" dirty="0"/>
          </a:p>
        </p:txBody>
      </p:sp>
      <p:sp>
        <p:nvSpPr>
          <p:cNvPr id="37" name="Fluxo número 4">
            <a:extLst>
              <a:ext uri="{FF2B5EF4-FFF2-40B4-BE49-F238E27FC236}">
                <a16:creationId xmlns:a16="http://schemas.microsoft.com/office/drawing/2014/main" id="{1E4B64E0-847E-C25B-F1D8-A95D5743067A}"/>
              </a:ext>
            </a:extLst>
          </p:cNvPr>
          <p:cNvSpPr/>
          <p:nvPr/>
        </p:nvSpPr>
        <p:spPr>
          <a:xfrm>
            <a:off x="8019288" y="5400473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4" name="WhatsApp Video 2026-10-26 at 17.52.48">
            <a:hlinkClick r:id="" action="ppaction://media"/>
            <a:extLst>
              <a:ext uri="{FF2B5EF4-FFF2-40B4-BE49-F238E27FC236}">
                <a16:creationId xmlns:a16="http://schemas.microsoft.com/office/drawing/2014/main" id="{C8ABDEB3-F9AC-2E9D-70C7-C91344AAA6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57200" y="1391752"/>
            <a:ext cx="7114162" cy="4274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2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 e tecnologias</a:t>
            </a:r>
            <a:endParaRPr lang="en-US" sz="3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Nó Usuário"/>
          <p:cNvSpPr/>
          <p:nvPr/>
        </p:nvSpPr>
        <p:spPr>
          <a:xfrm>
            <a:off x="457200" y="141732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3"/>
                </a:solidFill>
              </a:rPr>
              <a:t>Usuário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Navegador</a:t>
            </a:r>
            <a:endParaRPr lang="en-US" sz="1700" dirty="0"/>
          </a:p>
        </p:txBody>
      </p:sp>
      <p:sp>
        <p:nvSpPr>
          <p:cNvPr id="4" name="Seta nó 1"/>
          <p:cNvSpPr/>
          <p:nvPr/>
        </p:nvSpPr>
        <p:spPr>
          <a:xfrm>
            <a:off x="2834640" y="1700784"/>
            <a:ext cx="527609" cy="301752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Nó Front-end"/>
          <p:cNvSpPr/>
          <p:nvPr/>
        </p:nvSpPr>
        <p:spPr>
          <a:xfrm>
            <a:off x="3453689" y="141732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3"/>
                </a:solidFill>
              </a:rPr>
              <a:t>Front-end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React + TypeScript</a:t>
            </a:r>
            <a:endParaRPr lang="en-US" sz="1700" dirty="0"/>
          </a:p>
        </p:txBody>
      </p:sp>
      <p:sp>
        <p:nvSpPr>
          <p:cNvPr id="6" name="Seta nó 2"/>
          <p:cNvSpPr/>
          <p:nvPr/>
        </p:nvSpPr>
        <p:spPr>
          <a:xfrm>
            <a:off x="5831129" y="1700784"/>
            <a:ext cx="527609" cy="301752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Nó API"/>
          <p:cNvSpPr/>
          <p:nvPr/>
        </p:nvSpPr>
        <p:spPr>
          <a:xfrm>
            <a:off x="6450178" y="141732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3"/>
                </a:solidFill>
              </a:rPr>
              <a:t>API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Node.js + Express</a:t>
            </a:r>
            <a:endParaRPr lang="en-US" sz="1700" dirty="0"/>
          </a:p>
        </p:txBody>
      </p:sp>
      <p:sp>
        <p:nvSpPr>
          <p:cNvPr id="8" name="Seta nó 3"/>
          <p:cNvSpPr/>
          <p:nvPr/>
        </p:nvSpPr>
        <p:spPr>
          <a:xfrm>
            <a:off x="8827618" y="1700784"/>
            <a:ext cx="527609" cy="301752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Nó Banco"/>
          <p:cNvSpPr/>
          <p:nvPr/>
        </p:nvSpPr>
        <p:spPr>
          <a:xfrm>
            <a:off x="9446666" y="141732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3"/>
                </a:solidFill>
              </a:rPr>
              <a:t>Banco</a:t>
            </a:r>
            <a:endParaRPr lang="en-US" sz="17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PostgreSQL</a:t>
            </a:r>
            <a:endParaRPr lang="en-US" sz="1700" dirty="0"/>
          </a:p>
        </p:txBody>
      </p:sp>
      <p:sp>
        <p:nvSpPr>
          <p:cNvPr id="10" name="Seta dataset"/>
          <p:cNvSpPr/>
          <p:nvPr/>
        </p:nvSpPr>
        <p:spPr>
          <a:xfrm>
            <a:off x="10434218" y="2359152"/>
            <a:ext cx="310896" cy="365760"/>
          </a:xfrm>
          <a:prstGeom prst="up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Dataset legenda"/>
          <p:cNvSpPr txBox="1"/>
          <p:nvPr/>
        </p:nvSpPr>
        <p:spPr>
          <a:xfrm>
            <a:off x="7069226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2"/>
                </a:solidFill>
              </a:rPr>
              <a:t>Dataset de receitas (JSON) carregado por script</a:t>
            </a:r>
            <a:endParaRPr lang="en-US" sz="1400" dirty="0"/>
          </a:p>
        </p:txBody>
      </p:sp>
      <p:sp>
        <p:nvSpPr>
          <p:cNvPr id="12" name="Autenticação legenda"/>
          <p:cNvSpPr txBox="1"/>
          <p:nvPr/>
        </p:nvSpPr>
        <p:spPr>
          <a:xfrm>
            <a:off x="457200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Autenticação por token JWT · senhas com hash bcrypt</a:t>
            </a:r>
            <a:endParaRPr lang="en-US" sz="1400" dirty="0"/>
          </a:p>
        </p:txBody>
      </p:sp>
      <p:sp>
        <p:nvSpPr>
          <p:cNvPr id="13" name="Card Front-end"/>
          <p:cNvSpPr/>
          <p:nvPr/>
        </p:nvSpPr>
        <p:spPr>
          <a:xfrm>
            <a:off x="457200" y="3520440"/>
            <a:ext cx="36118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Front-end ícone fundo"/>
          <p:cNvSpPr/>
          <p:nvPr/>
        </p:nvSpPr>
        <p:spPr>
          <a:xfrm>
            <a:off x="68580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Front-end 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831336"/>
            <a:ext cx="201168" cy="201168"/>
          </a:xfrm>
          <a:prstGeom prst="rect">
            <a:avLst/>
          </a:prstGeom>
        </p:spPr>
      </p:pic>
      <p:sp>
        <p:nvSpPr>
          <p:cNvPr id="16" name="Front-end título"/>
          <p:cNvSpPr txBox="1"/>
          <p:nvPr/>
        </p:nvSpPr>
        <p:spPr>
          <a:xfrm>
            <a:off x="12801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Front-end</a:t>
            </a:r>
            <a:endParaRPr lang="en-US" sz="1800" dirty="0"/>
          </a:p>
        </p:txBody>
      </p:sp>
      <p:sp>
        <p:nvSpPr>
          <p:cNvPr id="17" name="Front-end lista"/>
          <p:cNvSpPr txBox="1"/>
          <p:nvPr/>
        </p:nvSpPr>
        <p:spPr>
          <a:xfrm>
            <a:off x="685800" y="434340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React 19 + TypeScript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Vite e Tailwind CSS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TanStack Query e Axios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React Hook Form + Zod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Zustand e React Router</a:t>
            </a:r>
            <a:endParaRPr lang="en-US" sz="1500" dirty="0"/>
          </a:p>
        </p:txBody>
      </p:sp>
      <p:sp>
        <p:nvSpPr>
          <p:cNvPr id="18" name="Card Back-end"/>
          <p:cNvSpPr/>
          <p:nvPr/>
        </p:nvSpPr>
        <p:spPr>
          <a:xfrm>
            <a:off x="4288536" y="3520440"/>
            <a:ext cx="36118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Back-end ícone fundo"/>
          <p:cNvSpPr/>
          <p:nvPr/>
        </p:nvSpPr>
        <p:spPr>
          <a:xfrm>
            <a:off x="4517136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1" descr="Back-end 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831336"/>
            <a:ext cx="201168" cy="201168"/>
          </a:xfrm>
          <a:prstGeom prst="rect">
            <a:avLst/>
          </a:prstGeom>
        </p:spPr>
      </p:pic>
      <p:sp>
        <p:nvSpPr>
          <p:cNvPr id="21" name="Back-end título"/>
          <p:cNvSpPr txBox="1"/>
          <p:nvPr/>
        </p:nvSpPr>
        <p:spPr>
          <a:xfrm>
            <a:off x="5111496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Back-end</a:t>
            </a:r>
            <a:endParaRPr lang="en-US" sz="1800" dirty="0"/>
          </a:p>
        </p:txBody>
      </p:sp>
      <p:sp>
        <p:nvSpPr>
          <p:cNvPr id="22" name="Back-end lista"/>
          <p:cNvSpPr txBox="1"/>
          <p:nvPr/>
        </p:nvSpPr>
        <p:spPr>
          <a:xfrm>
            <a:off x="4517136" y="434340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Node.js + Express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PostgreSQL (driver pg)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JWT + bcrypt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Docker Compose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Contrato OpenAPI</a:t>
            </a:r>
            <a:endParaRPr lang="en-US" sz="1500" dirty="0"/>
          </a:p>
        </p:txBody>
      </p:sp>
      <p:sp>
        <p:nvSpPr>
          <p:cNvPr id="23" name="Card API"/>
          <p:cNvSpPr/>
          <p:nvPr/>
        </p:nvSpPr>
        <p:spPr>
          <a:xfrm>
            <a:off x="8119872" y="3520440"/>
            <a:ext cx="36118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API ícone fundo"/>
          <p:cNvSpPr/>
          <p:nvPr/>
        </p:nvSpPr>
        <p:spPr>
          <a:xfrm>
            <a:off x="8348472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2" descr="API 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3831336"/>
            <a:ext cx="201168" cy="201168"/>
          </a:xfrm>
          <a:prstGeom prst="rect">
            <a:avLst/>
          </a:prstGeom>
        </p:spPr>
      </p:pic>
      <p:sp>
        <p:nvSpPr>
          <p:cNvPr id="26" name="API título"/>
          <p:cNvSpPr txBox="1"/>
          <p:nvPr/>
        </p:nvSpPr>
        <p:spPr>
          <a:xfrm>
            <a:off x="8942832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Rotas de autenticação</a:t>
            </a:r>
            <a:endParaRPr lang="en-US" sz="1800" dirty="0"/>
          </a:p>
        </p:txBody>
      </p:sp>
      <p:sp>
        <p:nvSpPr>
          <p:cNvPr id="27" name="Método 1"/>
          <p:cNvSpPr/>
          <p:nvPr/>
        </p:nvSpPr>
        <p:spPr>
          <a:xfrm>
            <a:off x="8348472" y="434340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POST</a:t>
            </a:r>
            <a:endParaRPr lang="en-US" sz="1200" dirty="0"/>
          </a:p>
        </p:txBody>
      </p:sp>
      <p:sp>
        <p:nvSpPr>
          <p:cNvPr id="28" name="Rota 1"/>
          <p:cNvSpPr txBox="1"/>
          <p:nvPr/>
        </p:nvSpPr>
        <p:spPr>
          <a:xfrm>
            <a:off x="9171432" y="43434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/auth/register</a:t>
            </a:r>
            <a:endParaRPr lang="en-US" sz="1500" dirty="0"/>
          </a:p>
        </p:txBody>
      </p:sp>
      <p:sp>
        <p:nvSpPr>
          <p:cNvPr id="29" name="Método 2"/>
          <p:cNvSpPr/>
          <p:nvPr/>
        </p:nvSpPr>
        <p:spPr>
          <a:xfrm>
            <a:off x="8348472" y="47640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POST</a:t>
            </a:r>
            <a:endParaRPr lang="en-US" sz="1200" dirty="0"/>
          </a:p>
        </p:txBody>
      </p:sp>
      <p:sp>
        <p:nvSpPr>
          <p:cNvPr id="30" name="Rota 2"/>
          <p:cNvSpPr txBox="1"/>
          <p:nvPr/>
        </p:nvSpPr>
        <p:spPr>
          <a:xfrm>
            <a:off x="9171432" y="47640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1500" dirty="0"/>
          </a:p>
        </p:txBody>
      </p:sp>
      <p:sp>
        <p:nvSpPr>
          <p:cNvPr id="31" name="Método 3"/>
          <p:cNvSpPr/>
          <p:nvPr/>
        </p:nvSpPr>
        <p:spPr>
          <a:xfrm>
            <a:off x="8348472" y="518464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POST</a:t>
            </a:r>
            <a:endParaRPr lang="en-US" sz="1200" dirty="0"/>
          </a:p>
        </p:txBody>
      </p:sp>
      <p:sp>
        <p:nvSpPr>
          <p:cNvPr id="32" name="Rota 3"/>
          <p:cNvSpPr txBox="1"/>
          <p:nvPr/>
        </p:nvSpPr>
        <p:spPr>
          <a:xfrm>
            <a:off x="9171432" y="51846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/auth/logout</a:t>
            </a:r>
            <a:endParaRPr lang="en-US" sz="1500" dirty="0"/>
          </a:p>
        </p:txBody>
      </p:sp>
      <p:sp>
        <p:nvSpPr>
          <p:cNvPr id="33" name="Método 4"/>
          <p:cNvSpPr/>
          <p:nvPr/>
        </p:nvSpPr>
        <p:spPr>
          <a:xfrm>
            <a:off x="8348472" y="560527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GET</a:t>
            </a:r>
            <a:endParaRPr lang="en-US" sz="1200" dirty="0"/>
          </a:p>
        </p:txBody>
      </p:sp>
      <p:sp>
        <p:nvSpPr>
          <p:cNvPr id="34" name="Rota 4"/>
          <p:cNvSpPr txBox="1"/>
          <p:nvPr/>
        </p:nvSpPr>
        <p:spPr>
          <a:xfrm>
            <a:off x="9171432" y="56052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/auth/me</a:t>
            </a:r>
            <a:endParaRPr lang="en-US" sz="1500" dirty="0"/>
          </a:p>
        </p:txBody>
      </p:sp>
      <p:sp>
        <p:nvSpPr>
          <p:cNvPr id="35" name="API nota"/>
          <p:cNvSpPr txBox="1"/>
          <p:nvPr/>
        </p:nvSpPr>
        <p:spPr>
          <a:xfrm>
            <a:off x="8348472" y="59161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Rotas de logout e perfil exigem token (Bearer).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Qualidade de software aplicada</a:t>
            </a:r>
            <a:endParaRPr lang="en-US" sz="3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ard Versionamento"/>
          <p:cNvSpPr/>
          <p:nvPr/>
        </p:nvSpPr>
        <p:spPr>
          <a:xfrm>
            <a:off x="457200" y="1371600"/>
            <a:ext cx="36118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Versionamento ícone fundo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Versionamento 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682496"/>
            <a:ext cx="201168" cy="201168"/>
          </a:xfrm>
          <a:prstGeom prst="rect">
            <a:avLst/>
          </a:prstGeom>
        </p:spPr>
      </p:pic>
      <p:sp>
        <p:nvSpPr>
          <p:cNvPr id="6" name="Versionamento título"/>
          <p:cNvSpPr txBox="1"/>
          <p:nvPr/>
        </p:nvSpPr>
        <p:spPr>
          <a:xfrm>
            <a:off x="128016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Versionamento</a:t>
            </a:r>
            <a:endParaRPr lang="en-US" sz="1800" dirty="0"/>
          </a:p>
        </p:txBody>
      </p:sp>
      <p:sp>
        <p:nvSpPr>
          <p:cNvPr id="7" name="Versionamento resumo"/>
          <p:cNvSpPr txBox="1"/>
          <p:nvPr/>
        </p:nvSpPr>
        <p:spPr>
          <a:xfrm>
            <a:off x="68580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 Flow + commits semânticos</a:t>
            </a:r>
            <a:endParaRPr lang="en-US" sz="1500" dirty="0"/>
          </a:p>
        </p:txBody>
      </p:sp>
      <p:sp>
        <p:nvSpPr>
          <p:cNvPr id="8" name="Versionamento detalhe"/>
          <p:cNvSpPr txBox="1"/>
          <p:nvPr/>
        </p:nvSpPr>
        <p:spPr>
          <a:xfrm>
            <a:off x="685800" y="2514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Branches main, develop e feature/*; mensagens no padrão Conventional Commits.</a:t>
            </a:r>
            <a:endParaRPr lang="en-US" sz="1400" dirty="0"/>
          </a:p>
        </p:txBody>
      </p:sp>
      <p:sp>
        <p:nvSpPr>
          <p:cNvPr id="9" name="Versionamento evidência"/>
          <p:cNvSpPr txBox="1"/>
          <p:nvPr/>
        </p:nvSpPr>
        <p:spPr>
          <a:xfrm>
            <a:off x="68580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docs/commits.md</a:t>
            </a:r>
            <a:endParaRPr lang="en-US" sz="1100" dirty="0"/>
          </a:p>
        </p:txBody>
      </p:sp>
      <p:sp>
        <p:nvSpPr>
          <p:cNvPr id="10" name="Card Testes unitários"/>
          <p:cNvSpPr/>
          <p:nvPr/>
        </p:nvSpPr>
        <p:spPr>
          <a:xfrm>
            <a:off x="4288536" y="1371600"/>
            <a:ext cx="36118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stes unitários ícone fundo"/>
          <p:cNvSpPr/>
          <p:nvPr/>
        </p:nvSpPr>
        <p:spPr>
          <a:xfrm>
            <a:off x="4517136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Testes unitários 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682496"/>
            <a:ext cx="201168" cy="201168"/>
          </a:xfrm>
          <a:prstGeom prst="rect">
            <a:avLst/>
          </a:prstGeom>
        </p:spPr>
      </p:pic>
      <p:sp>
        <p:nvSpPr>
          <p:cNvPr id="13" name="Testes unitários título"/>
          <p:cNvSpPr txBox="1"/>
          <p:nvPr/>
        </p:nvSpPr>
        <p:spPr>
          <a:xfrm>
            <a:off x="5111496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Testes unitários</a:t>
            </a:r>
            <a:endParaRPr lang="en-US" sz="1800" dirty="0"/>
          </a:p>
        </p:txBody>
      </p:sp>
      <p:sp>
        <p:nvSpPr>
          <p:cNvPr id="14" name="Testes unitários resumo"/>
          <p:cNvSpPr txBox="1"/>
          <p:nvPr/>
        </p:nvSpPr>
        <p:spPr>
          <a:xfrm>
            <a:off x="4517136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Jest no back-end</a:t>
            </a:r>
            <a:endParaRPr lang="en-US" sz="1500" dirty="0"/>
          </a:p>
        </p:txBody>
      </p:sp>
      <p:sp>
        <p:nvSpPr>
          <p:cNvPr id="15" name="Testes unitários detalhe"/>
          <p:cNvSpPr txBox="1"/>
          <p:nvPr/>
        </p:nvSpPr>
        <p:spPr>
          <a:xfrm>
            <a:off x="4517136" y="2514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Regras do serviço de autenticação com banco simulado, validação de campos e middlewares.</a:t>
            </a:r>
            <a:endParaRPr lang="en-US" sz="1400" dirty="0"/>
          </a:p>
        </p:txBody>
      </p:sp>
      <p:sp>
        <p:nvSpPr>
          <p:cNvPr id="16" name="Testes unitários evidência"/>
          <p:cNvSpPr txBox="1"/>
          <p:nvPr/>
        </p:nvSpPr>
        <p:spPr>
          <a:xfrm>
            <a:off x="4517136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test:unit</a:t>
            </a:r>
            <a:endParaRPr lang="en-US" sz="1100" dirty="0"/>
          </a:p>
        </p:txBody>
      </p:sp>
      <p:sp>
        <p:nvSpPr>
          <p:cNvPr id="17" name="Card Testes de integração"/>
          <p:cNvSpPr/>
          <p:nvPr/>
        </p:nvSpPr>
        <p:spPr>
          <a:xfrm>
            <a:off x="8119872" y="1371600"/>
            <a:ext cx="36118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stes de integração ícone fundo"/>
          <p:cNvSpPr/>
          <p:nvPr/>
        </p:nvSpPr>
        <p:spPr>
          <a:xfrm>
            <a:off x="8348472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Testes de integração 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682496"/>
            <a:ext cx="201168" cy="201168"/>
          </a:xfrm>
          <a:prstGeom prst="rect">
            <a:avLst/>
          </a:prstGeom>
        </p:spPr>
      </p:pic>
      <p:sp>
        <p:nvSpPr>
          <p:cNvPr id="20" name="Testes de integração título"/>
          <p:cNvSpPr txBox="1"/>
          <p:nvPr/>
        </p:nvSpPr>
        <p:spPr>
          <a:xfrm>
            <a:off x="8942832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Testes de integração</a:t>
            </a:r>
            <a:endParaRPr lang="en-US" sz="1800" dirty="0"/>
          </a:p>
        </p:txBody>
      </p:sp>
      <p:sp>
        <p:nvSpPr>
          <p:cNvPr id="21" name="Testes de integração resumo"/>
          <p:cNvSpPr txBox="1"/>
          <p:nvPr/>
        </p:nvSpPr>
        <p:spPr>
          <a:xfrm>
            <a:off x="8348472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Banco real em contêiner</a:t>
            </a:r>
            <a:endParaRPr lang="en-US" sz="1500" dirty="0"/>
          </a:p>
        </p:txBody>
      </p:sp>
      <p:sp>
        <p:nvSpPr>
          <p:cNvPr id="22" name="Testes de integração detalhe"/>
          <p:cNvSpPr txBox="1"/>
          <p:nvPr/>
        </p:nvSpPr>
        <p:spPr>
          <a:xfrm>
            <a:off x="8348472" y="2514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Ciclo completo de autenticação testado com PostgreSQL via Testcontainers.</a:t>
            </a:r>
            <a:endParaRPr lang="en-US" sz="1400" dirty="0"/>
          </a:p>
        </p:txBody>
      </p:sp>
      <p:sp>
        <p:nvSpPr>
          <p:cNvPr id="23" name="Testes de integração evidência"/>
          <p:cNvSpPr txBox="1"/>
          <p:nvPr/>
        </p:nvSpPr>
        <p:spPr>
          <a:xfrm>
            <a:off x="8348472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test:integration</a:t>
            </a:r>
            <a:endParaRPr lang="en-US" sz="1100" dirty="0"/>
          </a:p>
        </p:txBody>
      </p:sp>
      <p:sp>
        <p:nvSpPr>
          <p:cNvPr id="24" name="Card Código limpo"/>
          <p:cNvSpPr/>
          <p:nvPr/>
        </p:nvSpPr>
        <p:spPr>
          <a:xfrm>
            <a:off x="457200" y="3886200"/>
            <a:ext cx="36118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Código limpo ícone fundo"/>
          <p:cNvSpPr/>
          <p:nvPr/>
        </p:nvSpPr>
        <p:spPr>
          <a:xfrm>
            <a:off x="68580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3" descr="Código limpo íco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197096"/>
            <a:ext cx="201168" cy="201168"/>
          </a:xfrm>
          <a:prstGeom prst="rect">
            <a:avLst/>
          </a:prstGeom>
        </p:spPr>
      </p:pic>
      <p:sp>
        <p:nvSpPr>
          <p:cNvPr id="27" name="Código limpo título"/>
          <p:cNvSpPr txBox="1"/>
          <p:nvPr/>
        </p:nvSpPr>
        <p:spPr>
          <a:xfrm>
            <a:off x="1280160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Código limpo</a:t>
            </a:r>
            <a:endParaRPr lang="en-US" sz="1800" dirty="0"/>
          </a:p>
        </p:txBody>
      </p:sp>
      <p:sp>
        <p:nvSpPr>
          <p:cNvPr id="28" name="Código limpo resumo"/>
          <p:cNvSpPr txBox="1"/>
          <p:nvPr/>
        </p:nvSpPr>
        <p:spPr>
          <a:xfrm>
            <a:off x="685800" y="4663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Padronização automática</a:t>
            </a:r>
            <a:endParaRPr lang="en-US" sz="1500" dirty="0"/>
          </a:p>
        </p:txBody>
      </p:sp>
      <p:sp>
        <p:nvSpPr>
          <p:cNvPr id="29" name="Código limpo detalhe"/>
          <p:cNvSpPr txBox="1"/>
          <p:nvPr/>
        </p:nvSpPr>
        <p:spPr>
          <a:xfrm>
            <a:off x="685800" y="50292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ESLint e Prettier mantêm indentação, estilo e legibilidade consistentes.</a:t>
            </a:r>
            <a:endParaRPr lang="en-US" sz="1400" dirty="0"/>
          </a:p>
        </p:txBody>
      </p:sp>
      <p:sp>
        <p:nvSpPr>
          <p:cNvPr id="30" name="Código limpo evidência"/>
          <p:cNvSpPr txBox="1"/>
          <p:nvPr/>
        </p:nvSpPr>
        <p:spPr>
          <a:xfrm>
            <a:off x="685800" y="5806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lint · npm run format</a:t>
            </a:r>
            <a:endParaRPr lang="en-US" sz="1100" dirty="0"/>
          </a:p>
        </p:txBody>
      </p:sp>
      <p:sp>
        <p:nvSpPr>
          <p:cNvPr id="31" name="Card Tratamento de erros"/>
          <p:cNvSpPr/>
          <p:nvPr/>
        </p:nvSpPr>
        <p:spPr>
          <a:xfrm>
            <a:off x="4288536" y="3886200"/>
            <a:ext cx="36118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ratamento de erros ícone fundo"/>
          <p:cNvSpPr/>
          <p:nvPr/>
        </p:nvSpPr>
        <p:spPr>
          <a:xfrm>
            <a:off x="4517136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4" descr="Tratamento de erros íco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197096"/>
            <a:ext cx="201168" cy="201168"/>
          </a:xfrm>
          <a:prstGeom prst="rect">
            <a:avLst/>
          </a:prstGeom>
        </p:spPr>
      </p:pic>
      <p:sp>
        <p:nvSpPr>
          <p:cNvPr id="34" name="Tratamento de erros título"/>
          <p:cNvSpPr txBox="1"/>
          <p:nvPr/>
        </p:nvSpPr>
        <p:spPr>
          <a:xfrm>
            <a:off x="5111496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Tratamento de erros</a:t>
            </a:r>
            <a:endParaRPr lang="en-US" sz="1800" dirty="0"/>
          </a:p>
        </p:txBody>
      </p:sp>
      <p:sp>
        <p:nvSpPr>
          <p:cNvPr id="35" name="Tratamento de erros resumo"/>
          <p:cNvSpPr txBox="1"/>
          <p:nvPr/>
        </p:nvSpPr>
        <p:spPr>
          <a:xfrm>
            <a:off x="4517136" y="4663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Formato de erro padronizado</a:t>
            </a:r>
            <a:endParaRPr lang="en-US" sz="1500" dirty="0"/>
          </a:p>
        </p:txBody>
      </p:sp>
      <p:sp>
        <p:nvSpPr>
          <p:cNvPr id="36" name="Tratamento de erros detalhe"/>
          <p:cNvSpPr txBox="1"/>
          <p:nvPr/>
        </p:nvSpPr>
        <p:spPr>
          <a:xfrm>
            <a:off x="4517136" y="50292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Contrato OpenAPI define as respostas de erro da API de autenticação.</a:t>
            </a:r>
            <a:endParaRPr lang="en-US" sz="1400" dirty="0"/>
          </a:p>
        </p:txBody>
      </p:sp>
      <p:sp>
        <p:nvSpPr>
          <p:cNvPr id="37" name="Tratamento de erros evidência"/>
          <p:cNvSpPr txBox="1"/>
          <p:nvPr/>
        </p:nvSpPr>
        <p:spPr>
          <a:xfrm>
            <a:off x="4517136" y="5806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src/openapi.yaml</a:t>
            </a:r>
            <a:endParaRPr lang="en-US" sz="1100" dirty="0"/>
          </a:p>
        </p:txBody>
      </p:sp>
      <p:sp>
        <p:nvSpPr>
          <p:cNvPr id="38" name="Card CI/CD"/>
          <p:cNvSpPr/>
          <p:nvPr/>
        </p:nvSpPr>
        <p:spPr>
          <a:xfrm>
            <a:off x="8119872" y="3886200"/>
            <a:ext cx="36118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CI/CD ícone fundo"/>
          <p:cNvSpPr/>
          <p:nvPr/>
        </p:nvSpPr>
        <p:spPr>
          <a:xfrm>
            <a:off x="8348472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Image 5" descr="CI/CD íco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4197096"/>
            <a:ext cx="201168" cy="201168"/>
          </a:xfrm>
          <a:prstGeom prst="rect">
            <a:avLst/>
          </a:prstGeom>
        </p:spPr>
      </p:pic>
      <p:sp>
        <p:nvSpPr>
          <p:cNvPr id="41" name="CI/CD título"/>
          <p:cNvSpPr txBox="1"/>
          <p:nvPr/>
        </p:nvSpPr>
        <p:spPr>
          <a:xfrm>
            <a:off x="8942832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CI/CD</a:t>
            </a:r>
            <a:endParaRPr lang="en-US" sz="1800" dirty="0"/>
          </a:p>
        </p:txBody>
      </p:sp>
      <p:sp>
        <p:nvSpPr>
          <p:cNvPr id="42" name="CI/CD resumo"/>
          <p:cNvSpPr txBox="1"/>
          <p:nvPr/>
        </p:nvSpPr>
        <p:spPr>
          <a:xfrm>
            <a:off x="8348472" y="4663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 Actions</a:t>
            </a:r>
            <a:endParaRPr lang="en-US" sz="1500" dirty="0"/>
          </a:p>
        </p:txBody>
      </p:sp>
      <p:sp>
        <p:nvSpPr>
          <p:cNvPr id="43" name="CI/CD detalhe"/>
          <p:cNvSpPr txBox="1"/>
          <p:nvPr/>
        </p:nvSpPr>
        <p:spPr>
          <a:xfrm>
            <a:off x="8348472" y="50292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Workflow no repositório; PRs exigem lint e build verdes antes do merge.</a:t>
            </a:r>
            <a:endParaRPr lang="en-US" sz="1400" dirty="0"/>
          </a:p>
        </p:txBody>
      </p:sp>
      <p:sp>
        <p:nvSpPr>
          <p:cNvPr id="44" name="CI/CD evidência"/>
          <p:cNvSpPr txBox="1"/>
          <p:nvPr/>
        </p:nvSpPr>
        <p:spPr>
          <a:xfrm>
            <a:off x="8348472" y="5806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Impacto e evolução</a:t>
            </a:r>
            <a:endParaRPr lang="en-US" sz="3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ard ODS"/>
          <p:cNvSpPr/>
          <p:nvPr/>
        </p:nvSpPr>
        <p:spPr>
          <a:xfrm>
            <a:off x="457200" y="1371600"/>
            <a:ext cx="4206240" cy="48463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ODS número"/>
          <p:cNvSpPr/>
          <p:nvPr/>
        </p:nvSpPr>
        <p:spPr>
          <a:xfrm>
            <a:off x="1965960" y="169164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</a:rPr>
              <a:t>12</a:t>
            </a:r>
            <a:endParaRPr lang="en-US" sz="4400" dirty="0"/>
          </a:p>
        </p:txBody>
      </p:sp>
      <p:sp>
        <p:nvSpPr>
          <p:cNvPr id="5" name="ODS título"/>
          <p:cNvSpPr txBox="1"/>
          <p:nvPr/>
        </p:nvSpPr>
        <p:spPr>
          <a:xfrm>
            <a:off x="731520" y="3063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Consumo e produção responsáveis</a:t>
            </a:r>
            <a:endParaRPr lang="en-US" sz="2000" dirty="0"/>
          </a:p>
        </p:txBody>
      </p:sp>
      <p:sp>
        <p:nvSpPr>
          <p:cNvPr id="6" name="ODS texto"/>
          <p:cNvSpPr txBox="1"/>
          <p:nvPr/>
        </p:nvSpPr>
        <p:spPr>
          <a:xfrm>
            <a:off x="731520" y="3977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Meta 12.3: reduzir o desperdício de alimentos. O Talherzim incentiva usar o que já está na despensa antes de comprar mais.</a:t>
            </a:r>
            <a:endParaRPr lang="en-US" sz="1600" dirty="0"/>
          </a:p>
        </p:txBody>
      </p:sp>
      <p:sp>
        <p:nvSpPr>
          <p:cNvPr id="7" name="ODS ressalva"/>
          <p:cNvSpPr txBox="1"/>
          <p:nvPr/>
        </p:nvSpPr>
        <p:spPr>
          <a:xfrm>
            <a:off x="731520" y="5074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Impacto pretendido, ainda não medido.</a:t>
            </a:r>
            <a:endParaRPr lang="en-US" sz="1500" dirty="0"/>
          </a:p>
        </p:txBody>
      </p:sp>
      <p:sp>
        <p:nvSpPr>
          <p:cNvPr id="8" name="Roadmap título"/>
          <p:cNvSpPr txBox="1"/>
          <p:nvPr/>
        </p:nvSpPr>
        <p:spPr>
          <a:xfrm>
            <a:off x="4937760" y="1371600"/>
            <a:ext cx="6793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Evolução do MVP</a:t>
            </a:r>
            <a:endParaRPr lang="en-US" sz="2000" dirty="0"/>
          </a:p>
        </p:txBody>
      </p:sp>
      <p:sp>
        <p:nvSpPr>
          <p:cNvPr id="9" name="Etapa 1"/>
          <p:cNvSpPr/>
          <p:nvPr/>
        </p:nvSpPr>
        <p:spPr>
          <a:xfrm>
            <a:off x="4937760" y="1920240"/>
            <a:ext cx="6793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Etapa número 1"/>
          <p:cNvSpPr/>
          <p:nvPr/>
        </p:nvSpPr>
        <p:spPr>
          <a:xfrm>
            <a:off x="5120640" y="20756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Etapa texto 1"/>
          <p:cNvSpPr txBox="1"/>
          <p:nvPr/>
        </p:nvSpPr>
        <p:spPr>
          <a:xfrm>
            <a:off x="5715000" y="19202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Base da API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Autenticação com JWT e carga de receitas</a:t>
            </a:r>
            <a:endParaRPr lang="en-US" sz="1600" dirty="0"/>
          </a:p>
        </p:txBody>
      </p:sp>
      <p:sp>
        <p:nvSpPr>
          <p:cNvPr id="12" name="Status 1"/>
          <p:cNvSpPr/>
          <p:nvPr/>
        </p:nvSpPr>
        <p:spPr>
          <a:xfrm>
            <a:off x="10424160" y="2121408"/>
            <a:ext cx="1143000" cy="329184"/>
          </a:xfrm>
          <a:prstGeom prst="roundRect">
            <a:avLst>
              <a:gd name="adj" fmla="val 4722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Pronto</a:t>
            </a:r>
            <a:endParaRPr lang="en-US" sz="1200" dirty="0"/>
          </a:p>
        </p:txBody>
      </p:sp>
      <p:sp>
        <p:nvSpPr>
          <p:cNvPr id="13" name="Etapa 2"/>
          <p:cNvSpPr/>
          <p:nvPr/>
        </p:nvSpPr>
        <p:spPr>
          <a:xfrm>
            <a:off x="4937760" y="2788920"/>
            <a:ext cx="6793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Etapa número 2"/>
          <p:cNvSpPr/>
          <p:nvPr/>
        </p:nvSpPr>
        <p:spPr>
          <a:xfrm>
            <a:off x="5120640" y="29443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Etapa texto 2"/>
          <p:cNvSpPr txBox="1"/>
          <p:nvPr/>
        </p:nvSpPr>
        <p:spPr>
          <a:xfrm>
            <a:off x="5715000" y="27889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Despensa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Cadastro, edição e remoção de ingredientes</a:t>
            </a:r>
            <a:endParaRPr lang="en-US" sz="1600" dirty="0"/>
          </a:p>
        </p:txBody>
      </p:sp>
      <p:sp>
        <p:nvSpPr>
          <p:cNvPr id="17" name="Etapa 3"/>
          <p:cNvSpPr/>
          <p:nvPr/>
        </p:nvSpPr>
        <p:spPr>
          <a:xfrm>
            <a:off x="4937760" y="3657600"/>
            <a:ext cx="6793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Etapa número 3"/>
          <p:cNvSpPr/>
          <p:nvPr/>
        </p:nvSpPr>
        <p:spPr>
          <a:xfrm>
            <a:off x="5120640" y="38130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Etapa texto 3"/>
          <p:cNvSpPr txBox="1"/>
          <p:nvPr/>
        </p:nvSpPr>
        <p:spPr>
          <a:xfrm>
            <a:off x="5715000" y="36576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Ranqueamento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Receitas ordenadas pelos ingredientes em comum</a:t>
            </a:r>
            <a:endParaRPr lang="en-US" sz="1600" dirty="0"/>
          </a:p>
        </p:txBody>
      </p:sp>
      <p:sp>
        <p:nvSpPr>
          <p:cNvPr id="21" name="Etapa 4"/>
          <p:cNvSpPr/>
          <p:nvPr/>
        </p:nvSpPr>
        <p:spPr>
          <a:xfrm>
            <a:off x="4937760" y="4526280"/>
            <a:ext cx="679399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Etapa número 4"/>
          <p:cNvSpPr/>
          <p:nvPr/>
        </p:nvSpPr>
        <p:spPr>
          <a:xfrm>
            <a:off x="5120640" y="46817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Etapa texto 4"/>
          <p:cNvSpPr txBox="1"/>
          <p:nvPr/>
        </p:nvSpPr>
        <p:spPr>
          <a:xfrm>
            <a:off x="5715000" y="452628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Telas de receitas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Listagem, detalhe e imagem padrão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7" name="Status 1">
            <a:extLst>
              <a:ext uri="{FF2B5EF4-FFF2-40B4-BE49-F238E27FC236}">
                <a16:creationId xmlns:a16="http://schemas.microsoft.com/office/drawing/2014/main" id="{085D1DA3-4897-4630-B0ED-5361E51DF1FC}"/>
              </a:ext>
            </a:extLst>
          </p:cNvPr>
          <p:cNvSpPr/>
          <p:nvPr/>
        </p:nvSpPr>
        <p:spPr>
          <a:xfrm>
            <a:off x="10424160" y="2987235"/>
            <a:ext cx="1143000" cy="329184"/>
          </a:xfrm>
          <a:prstGeom prst="roundRect">
            <a:avLst>
              <a:gd name="adj" fmla="val 4722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Pronto</a:t>
            </a:r>
            <a:endParaRPr lang="en-US" sz="1200" dirty="0"/>
          </a:p>
        </p:txBody>
      </p:sp>
      <p:sp>
        <p:nvSpPr>
          <p:cNvPr id="38" name="Status 1">
            <a:extLst>
              <a:ext uri="{FF2B5EF4-FFF2-40B4-BE49-F238E27FC236}">
                <a16:creationId xmlns:a16="http://schemas.microsoft.com/office/drawing/2014/main" id="{411AC273-24BE-6B6A-B849-16A0DC4FDFFA}"/>
              </a:ext>
            </a:extLst>
          </p:cNvPr>
          <p:cNvSpPr/>
          <p:nvPr/>
        </p:nvSpPr>
        <p:spPr>
          <a:xfrm>
            <a:off x="10424160" y="3903515"/>
            <a:ext cx="1143000" cy="329184"/>
          </a:xfrm>
          <a:prstGeom prst="roundRect">
            <a:avLst>
              <a:gd name="adj" fmla="val 4722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Pronto</a:t>
            </a:r>
            <a:endParaRPr lang="en-US" sz="1200" dirty="0"/>
          </a:p>
        </p:txBody>
      </p:sp>
      <p:sp>
        <p:nvSpPr>
          <p:cNvPr id="39" name="Status 1">
            <a:extLst>
              <a:ext uri="{FF2B5EF4-FFF2-40B4-BE49-F238E27FC236}">
                <a16:creationId xmlns:a16="http://schemas.microsoft.com/office/drawing/2014/main" id="{8D2A7961-FA25-AAB2-FE51-30C131C0BFFE}"/>
              </a:ext>
            </a:extLst>
          </p:cNvPr>
          <p:cNvSpPr/>
          <p:nvPr/>
        </p:nvSpPr>
        <p:spPr>
          <a:xfrm>
            <a:off x="10424160" y="4709160"/>
            <a:ext cx="1143000" cy="329184"/>
          </a:xfrm>
          <a:prstGeom prst="roundRect">
            <a:avLst>
              <a:gd name="adj" fmla="val 4722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Pronto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258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bg1"/>
                </a:solidFill>
              </a:rPr>
              <a:t>Talherzim</a:t>
            </a:r>
            <a:endParaRPr lang="en-US" sz="6600" dirty="0"/>
          </a:p>
        </p:txBody>
      </p:sp>
      <p:sp>
        <p:nvSpPr>
          <p:cNvPr id="3" name="Fecho tagline"/>
          <p:cNvSpPr txBox="1"/>
          <p:nvPr/>
        </p:nvSpPr>
        <p:spPr>
          <a:xfrm>
            <a:off x="73152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Menos desperdício, mais decisão na cozinha.</a:t>
            </a:r>
            <a:endParaRPr lang="en-US" sz="2800" dirty="0"/>
          </a:p>
        </p:txBody>
      </p:sp>
      <p:sp>
        <p:nvSpPr>
          <p:cNvPr id="4" name="Fecho card 1"/>
          <p:cNvSpPr/>
          <p:nvPr/>
        </p:nvSpPr>
        <p:spPr>
          <a:xfrm>
            <a:off x="731520" y="35204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Problema real ícone fundo"/>
          <p:cNvSpPr/>
          <p:nvPr/>
        </p:nvSpPr>
        <p:spPr>
          <a:xfrm>
            <a:off x="96012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oblema real íc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877056"/>
            <a:ext cx="201168" cy="201168"/>
          </a:xfrm>
          <a:prstGeom prst="rect">
            <a:avLst/>
          </a:prstGeom>
        </p:spPr>
      </p:pic>
      <p:sp>
        <p:nvSpPr>
          <p:cNvPr id="7" name="Fecho texto 1"/>
          <p:cNvSpPr txBox="1"/>
          <p:nvPr/>
        </p:nvSpPr>
        <p:spPr>
          <a:xfrm>
            <a:off x="1554480" y="36118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Problema real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Desperdício de alimentos no dia a dia</a:t>
            </a:r>
            <a:endParaRPr lang="en-US" sz="1800" dirty="0"/>
          </a:p>
        </p:txBody>
      </p:sp>
      <p:sp>
        <p:nvSpPr>
          <p:cNvPr id="8" name="Fecho card 2"/>
          <p:cNvSpPr/>
          <p:nvPr/>
        </p:nvSpPr>
        <p:spPr>
          <a:xfrm>
            <a:off x="4480560" y="35204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Qualidade desde a base ícone fundo"/>
          <p:cNvSpPr/>
          <p:nvPr/>
        </p:nvSpPr>
        <p:spPr>
          <a:xfrm>
            <a:off x="470916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Qualidade desde a base íc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3877056"/>
            <a:ext cx="201168" cy="201168"/>
          </a:xfrm>
          <a:prstGeom prst="rect">
            <a:avLst/>
          </a:prstGeom>
        </p:spPr>
      </p:pic>
      <p:sp>
        <p:nvSpPr>
          <p:cNvPr id="11" name="Fecho texto 2"/>
          <p:cNvSpPr txBox="1"/>
          <p:nvPr/>
        </p:nvSpPr>
        <p:spPr>
          <a:xfrm>
            <a:off x="5303520" y="36118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Qualidade desde a base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Testes, padronização, Git Flow e CI</a:t>
            </a:r>
            <a:endParaRPr lang="en-US" sz="1800" dirty="0"/>
          </a:p>
        </p:txBody>
      </p:sp>
      <p:sp>
        <p:nvSpPr>
          <p:cNvPr id="12" name="Fecho card 3"/>
          <p:cNvSpPr/>
          <p:nvPr/>
        </p:nvSpPr>
        <p:spPr>
          <a:xfrm>
            <a:off x="8229600" y="3520440"/>
            <a:ext cx="34747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Evolução planejada ícone fundo"/>
          <p:cNvSpPr/>
          <p:nvPr/>
        </p:nvSpPr>
        <p:spPr>
          <a:xfrm>
            <a:off x="845820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Evolução planejada íc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3877056"/>
            <a:ext cx="201168" cy="201168"/>
          </a:xfrm>
          <a:prstGeom prst="rect">
            <a:avLst/>
          </a:prstGeom>
        </p:spPr>
      </p:pic>
      <p:sp>
        <p:nvSpPr>
          <p:cNvPr id="15" name="Fecho texto 3"/>
          <p:cNvSpPr txBox="1"/>
          <p:nvPr/>
        </p:nvSpPr>
        <p:spPr>
          <a:xfrm>
            <a:off x="9052560" y="36118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Evolução planejada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Despensa, ranqueamento e telas</a:t>
            </a:r>
            <a:endParaRPr lang="en-US" sz="1800" dirty="0"/>
          </a:p>
        </p:txBody>
      </p:sp>
      <p:sp>
        <p:nvSpPr>
          <p:cNvPr id="16" name="Link repositório"/>
          <p:cNvSpPr txBox="1"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github.com/Talhezim-Receitas-Rapidas</a:t>
            </a:r>
            <a:endParaRPr lang="en-US" sz="1800" dirty="0"/>
          </a:p>
        </p:txBody>
      </p:sp>
      <p:sp>
        <p:nvSpPr>
          <p:cNvPr id="17" name="Agradecimento"/>
          <p:cNvSpPr txBox="1"/>
          <p:nvPr/>
        </p:nvSpPr>
        <p:spPr>
          <a:xfrm>
            <a:off x="731520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Obrigado!</a:t>
            </a:r>
            <a:endParaRPr lang="en-US" sz="280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3BBB96EE-7517-C3B5-E02C-880CC4133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C6D74FC-EBF6-77D2-C264-B275EAC2E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alherzim">
  <a:themeElements>
    <a:clrScheme name="Talherzim">
      <a:dk1>
        <a:srgbClr val="2B2320"/>
      </a:dk1>
      <a:lt1>
        <a:srgbClr val="FFFFFF"/>
      </a:lt1>
      <a:dk2>
        <a:srgbClr val="6B5B53"/>
      </a:dk2>
      <a:lt2>
        <a:srgbClr val="FFF1E6"/>
      </a:lt2>
      <a:accent1>
        <a:srgbClr val="F26B1D"/>
      </a:accent1>
      <a:accent2>
        <a:srgbClr val="FF9F5A"/>
      </a:accent2>
      <a:accent3>
        <a:srgbClr val="C2410C"/>
      </a:accent3>
      <a:accent4>
        <a:srgbClr val="FFD3B0"/>
      </a:accent4>
      <a:accent5>
        <a:srgbClr val="8A7B73"/>
      </a:accent5>
      <a:accent6>
        <a:srgbClr val="2B2320"/>
      </a:accent6>
      <a:hlink>
        <a:srgbClr val="C2410C"/>
      </a:hlink>
      <a:folHlink>
        <a:srgbClr val="8A7B73"/>
      </a:folHlink>
    </a:clrScheme>
    <a:fontScheme name="Talherzi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1401</Words>
  <Application>Microsoft Office PowerPoint</Application>
  <PresentationFormat>Widescreen</PresentationFormat>
  <Paragraphs>144</Paragraphs>
  <Slides>7</Slides>
  <Notes>7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Segoe UI</vt:lpstr>
      <vt:lpstr>Talherzim</vt:lpstr>
      <vt:lpstr>Apresentação do PowerPoint</vt:lpstr>
      <vt:lpstr>Cozinhar com o que já existe em casa</vt:lpstr>
      <vt:lpstr>A aplicação em funcionamento</vt:lpstr>
      <vt:lpstr>Arquitetura e tecnologias</vt:lpstr>
      <vt:lpstr>Qualidade de software aplicada</vt:lpstr>
      <vt:lpstr>Impacto e evolução</vt:lpstr>
      <vt:lpstr>Talherzim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Talherzim — Trabalho A3 (GQS)</dc:title>
  <dc:subject>PptxGenJS Presentation</dc:subject>
  <dc:creator>PptxGenJS</dc:creator>
  <cp:lastModifiedBy>Miguel Alchaar Gomes</cp:lastModifiedBy>
  <cp:revision>2</cp:revision>
  <dcterms:created xsi:type="dcterms:W3CDTF">2026-10-26T01:47:06Z</dcterms:created>
  <dcterms:modified xsi:type="dcterms:W3CDTF">2026-10-26T21:50:53Z</dcterms:modified>
</cp:coreProperties>
</file>